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Inter SemiBold" panose="020B0604020202020204" charset="0"/>
      <p:regular r:id="rId12"/>
      <p:bold r:id="rId13"/>
      <p:italic r:id="rId14"/>
      <p:boldItalic r:id="rId15"/>
    </p:embeddedFon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43wjNuQggm+FEt/d+4GcF3BT3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d10816a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f3d10816a7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3d10816a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f3d10816a7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3d10816a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3f3d10816a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3d10816a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300" y="1143000"/>
            <a:ext cx="7304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f3d10816a7_0_13:notes"/>
          <p:cNvSpPr txBox="1">
            <a:spLocks noGrp="1"/>
          </p:cNvSpPr>
          <p:nvPr>
            <p:ph type="body" idx="1"/>
          </p:nvPr>
        </p:nvSpPr>
        <p:spPr>
          <a:xfrm>
            <a:off x="685167" y="4400550"/>
            <a:ext cx="54876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3f3d10816a7_0_13:notes"/>
          <p:cNvSpPr txBox="1">
            <a:spLocks noGrp="1"/>
          </p:cNvSpPr>
          <p:nvPr>
            <p:ph type="sldNum" idx="12"/>
          </p:nvPr>
        </p:nvSpPr>
        <p:spPr>
          <a:xfrm>
            <a:off x="3884730" y="8685213"/>
            <a:ext cx="29712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GetAround 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/>
          <p:nvPr/>
        </p:nvSpPr>
        <p:spPr>
          <a:xfrm>
            <a:off x="140425" y="3875475"/>
            <a:ext cx="4774800" cy="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fr" sz="1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CDSD – Groupe 4 – 2026</a:t>
            </a:r>
            <a:endParaRPr sz="1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1040265" y="483793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La problématique 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2"/>
          <p:cNvCxnSpPr/>
          <p:nvPr/>
        </p:nvCxnSpPr>
        <p:spPr>
          <a:xfrm>
            <a:off x="1040265" y="899868"/>
            <a:ext cx="2011800" cy="0"/>
          </a:xfrm>
          <a:prstGeom prst="straightConnector1">
            <a:avLst/>
          </a:prstGeom>
          <a:noFill/>
          <a:ln w="25400" cap="flat" cmpd="sng">
            <a:solidFill>
              <a:srgbClr val="11AAA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6" name="Google Shape;66;p2" title="ChatGPT Image 30 juil. 2026, 10_32_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000" y="1005425"/>
            <a:ext cx="5956351" cy="34448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752575" y="4520750"/>
            <a:ext cx="785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1800"/>
              <a:t>Quel délai minimal laisser entre deux locations pour éviter qu’un retard pénalise la location suivante 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40265" y="483793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Les données  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3"/>
          <p:cNvCxnSpPr/>
          <p:nvPr/>
        </p:nvCxnSpPr>
        <p:spPr>
          <a:xfrm>
            <a:off x="1040265" y="899868"/>
            <a:ext cx="2011800" cy="0"/>
          </a:xfrm>
          <a:prstGeom prst="straightConnector1">
            <a:avLst/>
          </a:prstGeom>
          <a:noFill/>
          <a:ln w="25400" cap="flat" cmpd="sng">
            <a:solidFill>
              <a:srgbClr val="11AAA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6" name="Google Shape;76;p3" title="ChatGPT Image 30 juil. 2026, 10_24_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200" y="1288025"/>
            <a:ext cx="6225400" cy="34617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741775" y="964025"/>
            <a:ext cx="785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000"/>
              <a:t>Un jeu de données complet pour analyser les retards et prédire le prix 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1117340" y="483793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Quel délai faut-il imposer ?   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750" y="1464600"/>
            <a:ext cx="3874750" cy="2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050" y="1464600"/>
            <a:ext cx="2961050" cy="28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853540" y="974668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  Seuil optimal : 120 minutes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89765" y="4413968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 </a:t>
            </a:r>
            <a:r>
              <a:rPr lang="fr" sz="1500"/>
              <a:t>à 120 minutes, nous </a:t>
            </a:r>
            <a:r>
              <a:rPr lang="fr" sz="1500" b="1"/>
              <a:t>maximisons la disponibilité</a:t>
            </a:r>
            <a:r>
              <a:rPr lang="fr" sz="1500"/>
              <a:t> des véhicules tout en </a:t>
            </a:r>
            <a:r>
              <a:rPr lang="fr" sz="1500" b="1"/>
              <a:t>minimisant l’impact</a:t>
            </a:r>
            <a:r>
              <a:rPr lang="fr" sz="1500"/>
              <a:t> sur les utilisateurs</a:t>
            </a:r>
            <a:r>
              <a:rPr lang="fr" sz="2300"/>
              <a:t> 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f3d10816a7_0_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f3d10816a7_0_62"/>
          <p:cNvSpPr/>
          <p:nvPr/>
        </p:nvSpPr>
        <p:spPr>
          <a:xfrm>
            <a:off x="1117340" y="483793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Prédire le prix d'une location    </a:t>
            </a:r>
            <a:endParaRPr sz="2300"/>
          </a:p>
        </p:txBody>
      </p:sp>
      <p:pic>
        <p:nvPicPr>
          <p:cNvPr id="94" name="Google Shape;94;g3f3d10816a7_0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450" y="1076918"/>
            <a:ext cx="1600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f3d10816a7_0_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400" y="1067400"/>
            <a:ext cx="1524000" cy="22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f3d10816a7_0_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3700" y="1030300"/>
            <a:ext cx="1524000" cy="23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f3d10816a7_0_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3075" y="1076918"/>
            <a:ext cx="14859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f3d10816a7_0_6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3200" y="985212"/>
            <a:ext cx="314325" cy="25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f3d10816a7_0_6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67525" y="1030300"/>
            <a:ext cx="1600200" cy="240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f3d10816a7_0_62"/>
          <p:cNvSpPr txBox="1"/>
          <p:nvPr/>
        </p:nvSpPr>
        <p:spPr>
          <a:xfrm>
            <a:off x="1519250" y="3831500"/>
            <a:ext cx="6248400" cy="8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</a:rPr>
              <a:t>Le Random Forest offre les meilleures performances tout en restant robuste sur ce type de données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132765" y="484743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Une solution complète 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61125" y="979725"/>
            <a:ext cx="6650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Scénario testés selon le délai minimum entre deux locations 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725" y="1435425"/>
            <a:ext cx="1566425" cy="25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0850" y="1435425"/>
            <a:ext cx="3431375" cy="25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5925" y="1435425"/>
            <a:ext cx="1849950" cy="25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f3d10816a7_0_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f3d10816a7_0_8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3d10816a7_0_84"/>
          <p:cNvSpPr/>
          <p:nvPr/>
        </p:nvSpPr>
        <p:spPr>
          <a:xfrm>
            <a:off x="1132765" y="484743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Dashboard interactif 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3d10816a7_0_84"/>
          <p:cNvSpPr txBox="1"/>
          <p:nvPr/>
        </p:nvSpPr>
        <p:spPr>
          <a:xfrm>
            <a:off x="661125" y="979725"/>
            <a:ext cx="6650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Une application pour explorer et comprendre nos données 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20" name="Google Shape;120;g3f3d10816a7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8450" y="1394000"/>
            <a:ext cx="6215401" cy="340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f3d10816a7_0_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3d10816a7_0_96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3d10816a7_0_96"/>
          <p:cNvSpPr/>
          <p:nvPr/>
        </p:nvSpPr>
        <p:spPr>
          <a:xfrm>
            <a:off x="1132765" y="484743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lang="fr" sz="2300"/>
              <a:t>Conclusion et Perspectives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f3d10816a7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1061925"/>
            <a:ext cx="3804275" cy="32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f3d10816a7_0_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5000" y="1103025"/>
            <a:ext cx="3804275" cy="31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3d10816a7_0_13"/>
          <p:cNvSpPr/>
          <p:nvPr/>
        </p:nvSpPr>
        <p:spPr>
          <a:xfrm>
            <a:off x="585216" y="1370335"/>
            <a:ext cx="79554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5600"/>
              <a:buFont typeface="Calibri"/>
              <a:buNone/>
            </a:pPr>
            <a:r>
              <a:rPr lang="fr" sz="5600" b="1" i="0" u="none" strike="noStrike" cap="none">
                <a:solidFill>
                  <a:srgbClr val="0E3449"/>
                </a:solidFill>
                <a:latin typeface="Calibri"/>
                <a:ea typeface="Calibri"/>
                <a:cs typeface="Calibri"/>
                <a:sym typeface="Calibri"/>
              </a:rPr>
              <a:t>Merci !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3d10816a7_0_13"/>
          <p:cNvSpPr/>
          <p:nvPr/>
        </p:nvSpPr>
        <p:spPr>
          <a:xfrm>
            <a:off x="2781403" y="3507806"/>
            <a:ext cx="35811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fr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CDSD – Groupe 4 – 2026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3d10816a7_0_13"/>
          <p:cNvSpPr/>
          <p:nvPr/>
        </p:nvSpPr>
        <p:spPr>
          <a:xfrm>
            <a:off x="8607019" y="4855464"/>
            <a:ext cx="3087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500"/>
              <a:buFont typeface="Arial"/>
              <a:buNone/>
            </a:pPr>
            <a:r>
              <a:rPr lang="fr" sz="500" b="0" i="0" u="none" strike="noStrike" cap="non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Affichage à l'écran (16:9)</PresentationFormat>
  <Paragraphs>20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Inter SemiBold</vt:lpstr>
      <vt:lpstr>Play</vt:lpstr>
      <vt:lpstr>Calibri</vt:lpstr>
      <vt:lpstr>Arial</vt:lpstr>
      <vt:lpstr>Simple Light</vt:lpstr>
      <vt:lpstr>Projet GetAround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Birane Thomas WANE</cp:lastModifiedBy>
  <cp:revision>1</cp:revision>
  <dcterms:modified xsi:type="dcterms:W3CDTF">2026-08-01T19:32:02Z</dcterms:modified>
</cp:coreProperties>
</file>